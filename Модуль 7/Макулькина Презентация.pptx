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3" r:id="rId15"/>
    <p:sldId id="269" r:id="rId16"/>
    <p:sldId id="262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4242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4386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1049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3905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72245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1426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9632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5271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8060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3526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1172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18701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379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29996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44111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0587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F0B4-49A0-4FEB-83EF-7D82912F8B21}" type="datetimeFigureOut">
              <a:rPr lang="ru-BY" smtClean="0"/>
              <a:t>06.07.2026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1EAEC46C-81AA-48CE-8B86-EA8A809D667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3319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17D91-4A50-FD9F-E782-9C868E1BB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7708" y="34891"/>
            <a:ext cx="8177707" cy="3500935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программы, моделирующей игру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«Шестнадцать солдат»</a:t>
            </a:r>
            <a:endParaRPr lang="ru-BY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0200-4CFB-6E70-5750-C763A030A510}"/>
              </a:ext>
            </a:extLst>
          </p:cNvPr>
          <p:cNvSpPr txBox="1"/>
          <p:nvPr/>
        </p:nvSpPr>
        <p:spPr>
          <a:xfrm flipH="1">
            <a:off x="167148" y="2877889"/>
            <a:ext cx="53782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Подготовила: учащаяся Оршанского колледжа ВГУ имени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П.М.Машерова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учебной группы 2ПОИС24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Макулькина Ксения Дмитриевна            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курсового проектирования: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Юржиц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Светлана Леонидовна</a:t>
            </a:r>
          </a:p>
          <a:p>
            <a:pPr algn="just"/>
            <a:endParaRPr lang="ru-RU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2C68C-3672-CA0E-C214-BB18F7E1291E}"/>
              </a:ext>
            </a:extLst>
          </p:cNvPr>
          <p:cNvSpPr txBox="1"/>
          <p:nvPr/>
        </p:nvSpPr>
        <p:spPr>
          <a:xfrm>
            <a:off x="2061041" y="74259"/>
            <a:ext cx="755104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540385" algn="ctr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endParaRPr lang="ru-BY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Оршанский колледж учреждения образования</a:t>
            </a:r>
            <a:endParaRPr lang="ru-BY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«Витебский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государственный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университет имени П.М. Машерова</a:t>
            </a:r>
            <a:r>
              <a:rPr lang="ru-RU" spc="1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F4A3E-735F-6C08-8A77-8A917443D061}"/>
              </a:ext>
            </a:extLst>
          </p:cNvPr>
          <p:cNvSpPr txBox="1"/>
          <p:nvPr/>
        </p:nvSpPr>
        <p:spPr>
          <a:xfrm>
            <a:off x="1769872" y="1168297"/>
            <a:ext cx="8133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540385" algn="ctr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5-04-0612-02 Разработка и сопровождение программного обеспечения </a:t>
            </a:r>
            <a:endParaRPr lang="ru-BY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 систем</a:t>
            </a:r>
            <a:endParaRPr lang="ru-BY" dirty="0"/>
          </a:p>
          <a:p>
            <a:endParaRPr lang="ru-B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E68E9-8850-549E-0149-EA2855A1E9B1}"/>
              </a:ext>
            </a:extLst>
          </p:cNvPr>
          <p:cNvSpPr txBox="1"/>
          <p:nvPr/>
        </p:nvSpPr>
        <p:spPr>
          <a:xfrm>
            <a:off x="5235315" y="6346129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Орша, 2026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20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C22054-A443-7146-05E5-C973CC614D88}"/>
              </a:ext>
            </a:extLst>
          </p:cNvPr>
          <p:cNvSpPr txBox="1"/>
          <p:nvPr/>
        </p:nvSpPr>
        <p:spPr>
          <a:xfrm>
            <a:off x="1582993" y="0"/>
            <a:ext cx="8013291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</a:pP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Логическая игра «Шестнадцать солдат»</a:t>
            </a:r>
          </a:p>
          <a:p>
            <a:pPr algn="ctr">
              <a:lnSpc>
                <a:spcPts val="6200"/>
              </a:lnSpc>
            </a:pPr>
            <a:endParaRPr lang="en-US" sz="3200" b="1" dirty="0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A197B-22DF-F45E-533F-26A699CC20BC}"/>
              </a:ext>
            </a:extLst>
          </p:cNvPr>
          <p:cNvSpPr txBox="1"/>
          <p:nvPr/>
        </p:nvSpPr>
        <p:spPr>
          <a:xfrm>
            <a:off x="884903" y="903007"/>
            <a:ext cx="8711381" cy="174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 «Шестнадцать солдат» (также известная как </a:t>
            </a:r>
            <a:r>
              <a:rPr lang="ru-RU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Шоло</a:t>
            </a: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Гути</a:t>
            </a: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) – это традиционная стратегическая настольная игра для двух игроков. Цель игры – уничтожить или заблокировать все фишки противника, перемещая свои 16 «солдат» по линиям игрового поля.</a:t>
            </a:r>
          </a:p>
          <a:p>
            <a:pPr algn="just">
              <a:lnSpc>
                <a:spcPts val="3800"/>
              </a:lnSpc>
              <a:spcBef>
                <a:spcPct val="0"/>
              </a:spcBef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403F7368-6467-6EA8-935C-9DE5E26F8FC1}"/>
              </a:ext>
            </a:extLst>
          </p:cNvPr>
          <p:cNvSpPr/>
          <p:nvPr/>
        </p:nvSpPr>
        <p:spPr>
          <a:xfrm>
            <a:off x="2713703" y="2464969"/>
            <a:ext cx="5429866" cy="3490024"/>
          </a:xfrm>
          <a:custGeom>
            <a:avLst/>
            <a:gdLst/>
            <a:ahLst/>
            <a:cxnLst/>
            <a:rect l="l" t="t" r="r" b="b"/>
            <a:pathLst>
              <a:path w="6411658" h="4808743">
                <a:moveTo>
                  <a:pt x="0" y="0"/>
                </a:moveTo>
                <a:lnTo>
                  <a:pt x="6411658" y="0"/>
                </a:lnTo>
                <a:lnTo>
                  <a:pt x="6411658" y="4808744"/>
                </a:lnTo>
                <a:lnTo>
                  <a:pt x="0" y="480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289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089B30-C2F5-30E1-57F3-BE30A3C54539}"/>
              </a:ext>
            </a:extLst>
          </p:cNvPr>
          <p:cNvSpPr txBox="1"/>
          <p:nvPr/>
        </p:nvSpPr>
        <p:spPr>
          <a:xfrm>
            <a:off x="2615381" y="139798"/>
            <a:ext cx="66785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игры «Шестнадцать солдат» 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C6F9AE2-5C3C-92E6-4B0F-3BF9EB60D8FC}"/>
              </a:ext>
            </a:extLst>
          </p:cNvPr>
          <p:cNvSpPr/>
          <p:nvPr/>
        </p:nvSpPr>
        <p:spPr>
          <a:xfrm>
            <a:off x="1759974" y="845574"/>
            <a:ext cx="7533968" cy="5523177"/>
          </a:xfrm>
          <a:custGeom>
            <a:avLst/>
            <a:gdLst/>
            <a:ahLst/>
            <a:cxnLst/>
            <a:rect l="l" t="t" r="r" b="b"/>
            <a:pathLst>
              <a:path w="10579073" h="8466277">
                <a:moveTo>
                  <a:pt x="0" y="0"/>
                </a:moveTo>
                <a:lnTo>
                  <a:pt x="10579073" y="0"/>
                </a:lnTo>
                <a:lnTo>
                  <a:pt x="10579073" y="8466276"/>
                </a:lnTo>
                <a:lnTo>
                  <a:pt x="0" y="8466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2266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0DA01-39E5-BE7E-DF8F-FEF790F3FC62}"/>
              </a:ext>
            </a:extLst>
          </p:cNvPr>
          <p:cNvSpPr txBox="1"/>
          <p:nvPr/>
        </p:nvSpPr>
        <p:spPr>
          <a:xfrm>
            <a:off x="2015613" y="9832"/>
            <a:ext cx="7455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курсового проекта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60908-EB72-C498-BF81-2ABF8F79D1FF}"/>
              </a:ext>
            </a:extLst>
          </p:cNvPr>
          <p:cNvSpPr txBox="1"/>
          <p:nvPr/>
        </p:nvSpPr>
        <p:spPr>
          <a:xfrm>
            <a:off x="599769" y="1823396"/>
            <a:ext cx="9193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Актуальность разработки обусловлена нестандартной геометрией доски игры «Шестнадцать солдат», что исключает применение типовых решений и требует создания оригинальных математических моделей и алгоритмов (в частности, для правила обязательного взятия),в отличие от существующих программ, которые ограничиваются отображением доски и ручным перемещением фишек, не реализуя полную игровую логику с контролем правил и автоматической проверкой допустимости ходов.</a:t>
            </a:r>
          </a:p>
          <a:p>
            <a:pPr algn="just"/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AA1F61-BAB4-3251-3EEE-F1012BC4938C}"/>
              </a:ext>
            </a:extLst>
          </p:cNvPr>
          <p:cNvSpPr txBox="1"/>
          <p:nvPr/>
        </p:nvSpPr>
        <p:spPr>
          <a:xfrm>
            <a:off x="2906677" y="147484"/>
            <a:ext cx="4687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5BCB1-E550-D6C1-4D8F-4943EA8A076B}"/>
              </a:ext>
            </a:extLst>
          </p:cNvPr>
          <p:cNvSpPr txBox="1"/>
          <p:nvPr/>
        </p:nvSpPr>
        <p:spPr>
          <a:xfrm>
            <a:off x="698093" y="1543665"/>
            <a:ext cx="9104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Цель курсового проектирования – закрепление и систематизация теоретических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знаний и практических навыков, полученных при изучении дисциплины «Основы алгоритмизации и программирования», развитие умений самостоятельно решать поставленные задачи, а также создание программного продукта, моделирующего настольную логико-стратегическую игру «Шестнадцать солдат», предназначенного для автоматизации игрового процесса на специальном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поле, контроля корректности перемещения фигур игроков в соответствии с правилами и обеспечения удобного интерактивного взаимодействия пользователей с программой.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74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1CD9A9-BE80-98F6-3826-BF347AC70A57}"/>
              </a:ext>
            </a:extLst>
          </p:cNvPr>
          <p:cNvSpPr txBox="1"/>
          <p:nvPr/>
        </p:nvSpPr>
        <p:spPr>
          <a:xfrm>
            <a:off x="2045109" y="98865"/>
            <a:ext cx="6598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курсового проектирования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E708B-FD27-1BB3-8237-73BB461EBFBF}"/>
              </a:ext>
            </a:extLst>
          </p:cNvPr>
          <p:cNvSpPr txBox="1"/>
          <p:nvPr/>
        </p:nvSpPr>
        <p:spPr>
          <a:xfrm>
            <a:off x="530943" y="1299957"/>
            <a:ext cx="884960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B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Анализ: </a:t>
            </a:r>
            <a:r>
              <a:rPr lang="ru-B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правила игры, алгоритмы нестандартного поля и существующие аналоги.</a:t>
            </a:r>
          </a:p>
          <a:p>
            <a:r>
              <a:rPr lang="ru-B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Проектирование: </a:t>
            </a:r>
            <a:r>
              <a:rPr lang="ru-B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математическую модель (граф связей) и спроектировать структуру классов.</a:t>
            </a:r>
          </a:p>
          <a:p>
            <a:r>
              <a:rPr lang="ru-B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интерфейса: </a:t>
            </a:r>
            <a:r>
              <a:rPr lang="ru-B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визуальное оформление доски, фигур и панелей состояния.</a:t>
            </a:r>
          </a:p>
          <a:p>
            <a:r>
              <a:rPr lang="ru-B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логики: </a:t>
            </a:r>
            <a:r>
              <a:rPr lang="ru-B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проверки ходов, расчета взятий и определения финала партии.</a:t>
            </a:r>
          </a:p>
          <a:p>
            <a:r>
              <a:rPr lang="ru-B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 </a:t>
            </a:r>
            <a:r>
              <a:rPr lang="ru-B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отладку и верификацию основных игровых сценариев.</a:t>
            </a:r>
          </a:p>
          <a:p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15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96F33-FCFA-4166-2EB3-69651F0ACE5E}"/>
              </a:ext>
            </a:extLst>
          </p:cNvPr>
          <p:cNvSpPr txBox="1"/>
          <p:nvPr/>
        </p:nvSpPr>
        <p:spPr>
          <a:xfrm>
            <a:off x="2119794" y="83958"/>
            <a:ext cx="6261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аналогов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5CCE88F-4EEF-952F-5071-7F422BE30F09}"/>
              </a:ext>
            </a:extLst>
          </p:cNvPr>
          <p:cNvSpPr/>
          <p:nvPr/>
        </p:nvSpPr>
        <p:spPr>
          <a:xfrm>
            <a:off x="412956" y="950213"/>
            <a:ext cx="4011560" cy="5619157"/>
          </a:xfrm>
          <a:custGeom>
            <a:avLst/>
            <a:gdLst/>
            <a:ahLst/>
            <a:cxnLst/>
            <a:rect l="l" t="t" r="r" b="b"/>
            <a:pathLst>
              <a:path w="7467126" h="7563387">
                <a:moveTo>
                  <a:pt x="0" y="0"/>
                </a:moveTo>
                <a:lnTo>
                  <a:pt x="7467126" y="0"/>
                </a:lnTo>
                <a:lnTo>
                  <a:pt x="7467126" y="7563387"/>
                </a:lnTo>
                <a:lnTo>
                  <a:pt x="0" y="756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B2CD13F-CCAE-386F-952A-2C35D7CCD9E7}"/>
              </a:ext>
            </a:extLst>
          </p:cNvPr>
          <p:cNvSpPr/>
          <p:nvPr/>
        </p:nvSpPr>
        <p:spPr>
          <a:xfrm>
            <a:off x="5137353" y="983226"/>
            <a:ext cx="4262285" cy="5586145"/>
          </a:xfrm>
          <a:custGeom>
            <a:avLst/>
            <a:gdLst/>
            <a:ahLst/>
            <a:cxnLst/>
            <a:rect l="l" t="t" r="r" b="b"/>
            <a:pathLst>
              <a:path w="7467126" h="7563387">
                <a:moveTo>
                  <a:pt x="0" y="0"/>
                </a:moveTo>
                <a:lnTo>
                  <a:pt x="7467126" y="0"/>
                </a:lnTo>
                <a:lnTo>
                  <a:pt x="7467126" y="7563387"/>
                </a:lnTo>
                <a:lnTo>
                  <a:pt x="0" y="756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6C695-908E-696F-3CEE-987E0261A99A}"/>
              </a:ext>
            </a:extLst>
          </p:cNvPr>
          <p:cNvSpPr txBox="1"/>
          <p:nvPr/>
        </p:nvSpPr>
        <p:spPr>
          <a:xfrm>
            <a:off x="412956" y="1237278"/>
            <a:ext cx="401156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«</a:t>
            </a:r>
            <a:r>
              <a:rPr lang="ru-RU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Алькерк</a:t>
            </a:r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– это древняя логическая </a:t>
            </a:r>
          </a:p>
          <a:p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на поле 5х5, где игроки перемещают</a:t>
            </a:r>
          </a:p>
          <a:p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12 фишек по узлам сетки. </a:t>
            </a:r>
          </a:p>
          <a:p>
            <a:r>
              <a:rPr lang="ru-RU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 </a:t>
            </a:r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пошаговый ход на соседнюю пустую вершину и взятие фигуры противника прыжком через нее. </a:t>
            </a:r>
          </a:p>
          <a:p>
            <a:r>
              <a:rPr lang="ru-RU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правила, высокая динамика и отсутствие случайных факторов, что упрощает разработку программы. </a:t>
            </a:r>
          </a:p>
          <a:p>
            <a:r>
              <a:rPr lang="ru-RU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 </a:t>
            </a:r>
            <a:r>
              <a:rPr lang="ru-RU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 первого хода, частые ничьи и пассивность игры (игрокам невыгодно атаковать первыми).</a:t>
            </a:r>
          </a:p>
          <a:p>
            <a:endParaRPr lang="ru-BY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9CAF2-5CA6-4FCB-8F90-7C176B6F8DE4}"/>
              </a:ext>
            </a:extLst>
          </p:cNvPr>
          <p:cNvSpPr txBox="1"/>
          <p:nvPr/>
        </p:nvSpPr>
        <p:spPr>
          <a:xfrm>
            <a:off x="5250427" y="1083822"/>
            <a:ext cx="361826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«Баг-Чал» – это непальская асимметричная стратегия на поле 5x5, где один игрок управляет 4 «тиграми», а второй – 20 «козлами». </a:t>
            </a:r>
          </a:p>
          <a:p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 процесс делится на две фазы (выставление козлов на доску, а затем перемещение всех фигур), при этом тигры побеждают при съедании 5 козлов прыжком, а козлы – при полной блокировке тигров. </a:t>
            </a: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уникальный игровой опыт за счет разных стилей игры для сторон и высокая плотность фигур, держащая в напряжении. </a:t>
            </a:r>
          </a:p>
          <a:p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сильный дисбаланс сил в зависимости от опыта игроков, монотонность первой фазы для козлов и критичность любой ошибки.</a:t>
            </a:r>
          </a:p>
          <a:p>
            <a:endParaRPr lang="ru-BY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0ABED98-EBAD-903D-4614-AE18400B9677}"/>
              </a:ext>
            </a:extLst>
          </p:cNvPr>
          <p:cNvSpPr/>
          <p:nvPr/>
        </p:nvSpPr>
        <p:spPr>
          <a:xfrm rot="-926379">
            <a:off x="122310" y="150599"/>
            <a:ext cx="921882" cy="835510"/>
          </a:xfrm>
          <a:custGeom>
            <a:avLst/>
            <a:gdLst/>
            <a:ahLst/>
            <a:cxnLst/>
            <a:rect l="l" t="t" r="r" b="b"/>
            <a:pathLst>
              <a:path w="1586143" h="1363254">
                <a:moveTo>
                  <a:pt x="0" y="0"/>
                </a:moveTo>
                <a:lnTo>
                  <a:pt x="1586143" y="0"/>
                </a:lnTo>
                <a:lnTo>
                  <a:pt x="1586143" y="1363254"/>
                </a:lnTo>
                <a:lnTo>
                  <a:pt x="0" y="136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BCA2ADDA-3210-E39D-605A-42A930F321A5}"/>
              </a:ext>
            </a:extLst>
          </p:cNvPr>
          <p:cNvSpPr/>
          <p:nvPr/>
        </p:nvSpPr>
        <p:spPr>
          <a:xfrm rot="-1270769">
            <a:off x="9009339" y="5860361"/>
            <a:ext cx="1006747" cy="844288"/>
          </a:xfrm>
          <a:custGeom>
            <a:avLst/>
            <a:gdLst/>
            <a:ahLst/>
            <a:cxnLst/>
            <a:rect l="l" t="t" r="r" b="b"/>
            <a:pathLst>
              <a:path w="1768180" h="1429001">
                <a:moveTo>
                  <a:pt x="0" y="0"/>
                </a:moveTo>
                <a:lnTo>
                  <a:pt x="1768181" y="0"/>
                </a:lnTo>
                <a:lnTo>
                  <a:pt x="1768181" y="1429001"/>
                </a:lnTo>
                <a:lnTo>
                  <a:pt x="0" y="142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4576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88CFA-6CB3-0C9F-9EAA-919D67D5406E}"/>
              </a:ext>
            </a:extLst>
          </p:cNvPr>
          <p:cNvSpPr txBox="1"/>
          <p:nvPr/>
        </p:nvSpPr>
        <p:spPr>
          <a:xfrm>
            <a:off x="2900515" y="558273"/>
            <a:ext cx="58719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IDEF0, </a:t>
            </a: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А0</a:t>
            </a:r>
          </a:p>
          <a:p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3AD1E13-7195-F0F6-199B-EACB8B8060CF}"/>
              </a:ext>
            </a:extLst>
          </p:cNvPr>
          <p:cNvSpPr/>
          <p:nvPr/>
        </p:nvSpPr>
        <p:spPr>
          <a:xfrm>
            <a:off x="1605485" y="1096882"/>
            <a:ext cx="7813819" cy="5033531"/>
          </a:xfrm>
          <a:custGeom>
            <a:avLst/>
            <a:gdLst/>
            <a:ahLst/>
            <a:cxnLst/>
            <a:rect l="l" t="t" r="r" b="b"/>
            <a:pathLst>
              <a:path w="11507375" h="7990249">
                <a:moveTo>
                  <a:pt x="0" y="0"/>
                </a:moveTo>
                <a:lnTo>
                  <a:pt x="11507375" y="0"/>
                </a:lnTo>
                <a:lnTo>
                  <a:pt x="11507375" y="7990250"/>
                </a:lnTo>
                <a:lnTo>
                  <a:pt x="0" y="799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BY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8789C-AAA3-5412-1350-2F5B4F936EF2}"/>
              </a:ext>
            </a:extLst>
          </p:cNvPr>
          <p:cNvSpPr txBox="1"/>
          <p:nvPr/>
        </p:nvSpPr>
        <p:spPr>
          <a:xfrm>
            <a:off x="719465" y="132980"/>
            <a:ext cx="3301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10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FF0F8-3E59-CF18-03FB-295E3F4609CA}"/>
              </a:ext>
            </a:extLst>
          </p:cNvPr>
          <p:cNvSpPr txBox="1"/>
          <p:nvPr/>
        </p:nvSpPr>
        <p:spPr>
          <a:xfrm>
            <a:off x="2687680" y="535273"/>
            <a:ext cx="58719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IDEF0, </a:t>
            </a: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А1</a:t>
            </a:r>
          </a:p>
          <a:p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4F007AF-2D43-6ADF-F6E2-0F64899BC1A7}"/>
              </a:ext>
            </a:extLst>
          </p:cNvPr>
          <p:cNvSpPr/>
          <p:nvPr/>
        </p:nvSpPr>
        <p:spPr>
          <a:xfrm>
            <a:off x="1494094" y="1101212"/>
            <a:ext cx="7935041" cy="5221515"/>
          </a:xfrm>
          <a:custGeom>
            <a:avLst/>
            <a:gdLst/>
            <a:ahLst/>
            <a:cxnLst/>
            <a:rect l="l" t="t" r="r" b="b"/>
            <a:pathLst>
              <a:path w="11399898" h="7843318">
                <a:moveTo>
                  <a:pt x="0" y="0"/>
                </a:moveTo>
                <a:lnTo>
                  <a:pt x="11399898" y="0"/>
                </a:lnTo>
                <a:lnTo>
                  <a:pt x="11399898" y="7843318"/>
                </a:lnTo>
                <a:lnTo>
                  <a:pt x="0" y="7843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04BB2-D385-1C81-0DF1-9DDFA19F5E5D}"/>
              </a:ext>
            </a:extLst>
          </p:cNvPr>
          <p:cNvSpPr txBox="1"/>
          <p:nvPr/>
        </p:nvSpPr>
        <p:spPr>
          <a:xfrm>
            <a:off x="464574" y="94986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22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56724CE2-405D-2296-527D-15FAE9A389DE}"/>
              </a:ext>
            </a:extLst>
          </p:cNvPr>
          <p:cNvSpPr/>
          <p:nvPr/>
        </p:nvSpPr>
        <p:spPr>
          <a:xfrm>
            <a:off x="393289" y="1974956"/>
            <a:ext cx="9144001" cy="3629432"/>
          </a:xfrm>
          <a:custGeom>
            <a:avLst/>
            <a:gdLst/>
            <a:ahLst/>
            <a:cxnLst/>
            <a:rect l="l" t="t" r="r" b="b"/>
            <a:pathLst>
              <a:path w="15542637" h="6152294">
                <a:moveTo>
                  <a:pt x="0" y="0"/>
                </a:moveTo>
                <a:lnTo>
                  <a:pt x="15542637" y="0"/>
                </a:lnTo>
                <a:lnTo>
                  <a:pt x="15542637" y="6152294"/>
                </a:lnTo>
                <a:lnTo>
                  <a:pt x="0" y="6152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E9773-3CD4-B566-8308-2011C08EF717}"/>
              </a:ext>
            </a:extLst>
          </p:cNvPr>
          <p:cNvSpPr txBox="1"/>
          <p:nvPr/>
        </p:nvSpPr>
        <p:spPr>
          <a:xfrm flipH="1">
            <a:off x="130767" y="425139"/>
            <a:ext cx="3101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F07EA-56F0-16D1-0FED-23C3248680A6}"/>
              </a:ext>
            </a:extLst>
          </p:cNvPr>
          <p:cNvSpPr txBox="1"/>
          <p:nvPr/>
        </p:nvSpPr>
        <p:spPr>
          <a:xfrm>
            <a:off x="700548" y="44873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56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C1861F-AFB5-8435-DDFE-EF779B0E2F0F}"/>
              </a:ext>
            </a:extLst>
          </p:cNvPr>
          <p:cNvSpPr txBox="1"/>
          <p:nvPr/>
        </p:nvSpPr>
        <p:spPr>
          <a:xfrm>
            <a:off x="403121" y="899462"/>
            <a:ext cx="80722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 – это графический способ описания алгоритма, при котором отдельные операции или этапы процесса изображаются в виде геометрических фигур (блоков), а последовательность их выполнения – стрелками, соединяющими эти блоки.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3F03A4-99AA-AF13-D23F-F923108294DB}"/>
              </a:ext>
            </a:extLst>
          </p:cNvPr>
          <p:cNvSpPr/>
          <p:nvPr/>
        </p:nvSpPr>
        <p:spPr>
          <a:xfrm>
            <a:off x="235973" y="2280607"/>
            <a:ext cx="3263609" cy="4469238"/>
          </a:xfrm>
          <a:custGeom>
            <a:avLst/>
            <a:gdLst/>
            <a:ahLst/>
            <a:cxnLst/>
            <a:rect l="l" t="t" r="r" b="b"/>
            <a:pathLst>
              <a:path w="6037493" h="8701093">
                <a:moveTo>
                  <a:pt x="0" y="0"/>
                </a:moveTo>
                <a:lnTo>
                  <a:pt x="6037494" y="0"/>
                </a:lnTo>
                <a:lnTo>
                  <a:pt x="6037494" y="8701093"/>
                </a:lnTo>
                <a:lnTo>
                  <a:pt x="0" y="8701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7B27C-0491-F15C-9C4D-2F4DB08C99B5}"/>
              </a:ext>
            </a:extLst>
          </p:cNvPr>
          <p:cNvSpPr txBox="1"/>
          <p:nvPr/>
        </p:nvSpPr>
        <p:spPr>
          <a:xfrm>
            <a:off x="2486155" y="314687"/>
            <a:ext cx="5367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выполнения хода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F8820-F90E-B480-26FE-FA86D1C05D3A}"/>
              </a:ext>
            </a:extLst>
          </p:cNvPr>
          <p:cNvSpPr txBox="1"/>
          <p:nvPr/>
        </p:nvSpPr>
        <p:spPr>
          <a:xfrm>
            <a:off x="3617566" y="2280607"/>
            <a:ext cx="65482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 кликает по узлу — программа проверяет, принадлежит ли фигура в этом узле текущему игроку. Если нет — выводит сообщение об ошибке.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выборе своей фигуры она подсвечивается, и программа ожидает клика по целевому узлу.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клике по целевому узлу проверяются три условия: узел существует, соединён линией с исходным и свободен. Если хотя бы одно не выполнено — ход отклоняется.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определяет тип хода: если целевой узел соседний — выполняется обычное перемещение; если через один узел — выполняется прыжок (взятие), при этом фигура противника удаляется с доски.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любым ходом программа проверяет наличие обязательных взятий (правило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Huff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если они есть, обычные ходы блокируются.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успешного хода обновляется состояние доски, пересчитывается счёт и проверяется условие победы (потеря всех фигур одним из игроков).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игра не завершена, ход передаётся другому игроку, поле перерисовывается, и цикл повторяется. При возможности множественного захвата программа не передаёт ход, пока игрок не завершит серию взятий.</a:t>
            </a:r>
          </a:p>
          <a:p>
            <a:endParaRPr lang="ru-BY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40CCF-8466-F864-CFF7-C267666F9422}"/>
              </a:ext>
            </a:extLst>
          </p:cNvPr>
          <p:cNvSpPr txBox="1"/>
          <p:nvPr/>
        </p:nvSpPr>
        <p:spPr>
          <a:xfrm>
            <a:off x="5762681" y="1911275"/>
            <a:ext cx="225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Словесный алгоритм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D7BB5-2A02-1F03-BF7B-5AE7F33217E2}"/>
              </a:ext>
            </a:extLst>
          </p:cNvPr>
          <p:cNvSpPr txBox="1"/>
          <p:nvPr/>
        </p:nvSpPr>
        <p:spPr>
          <a:xfrm>
            <a:off x="6350936" y="-58494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0C043A5E-F4B3-DE4A-C7B2-69A1F17B4931}"/>
              </a:ext>
            </a:extLst>
          </p:cNvPr>
          <p:cNvSpPr/>
          <p:nvPr/>
        </p:nvSpPr>
        <p:spPr>
          <a:xfrm>
            <a:off x="2708243" y="4080386"/>
            <a:ext cx="6296216" cy="2654711"/>
          </a:xfrm>
          <a:custGeom>
            <a:avLst/>
            <a:gdLst/>
            <a:ahLst/>
            <a:cxnLst/>
            <a:rect l="l" t="t" r="r" b="b"/>
            <a:pathLst>
              <a:path w="9479765" h="4375276">
                <a:moveTo>
                  <a:pt x="0" y="0"/>
                </a:moveTo>
                <a:lnTo>
                  <a:pt x="9479766" y="0"/>
                </a:lnTo>
                <a:lnTo>
                  <a:pt x="9479766" y="4375276"/>
                </a:lnTo>
                <a:lnTo>
                  <a:pt x="0" y="4375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B0B08-44CC-1D65-24FF-CFCC083A870F}"/>
              </a:ext>
            </a:extLst>
          </p:cNvPr>
          <p:cNvSpPr txBox="1"/>
          <p:nvPr/>
        </p:nvSpPr>
        <p:spPr>
          <a:xfrm>
            <a:off x="3156154" y="585264"/>
            <a:ext cx="4811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компонентов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40FC5-9747-1644-790B-FCCA0C12A9CA}"/>
              </a:ext>
            </a:extLst>
          </p:cNvPr>
          <p:cNvSpPr txBox="1"/>
          <p:nvPr/>
        </p:nvSpPr>
        <p:spPr>
          <a:xfrm>
            <a:off x="255640" y="1170039"/>
            <a:ext cx="901899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Она отражает внутреннюю структуру игры «Шестнадцать солдат» и взаимодействие её основных программных модулей. Пользователь взаимодействует с игрой через графический интерфейс формы (Form1), который передает команды и клики мыши по панели игрового поля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в модуль обработки игровых событий. Полученные координаты и действия обрабатываются модулем игровой логики, который проверяет их на соответствие правилам игры (валидация ходов и взятий), после чего они фиксируются в модуле форматирования лога и мгновенно выводятся на экран в текстовом поле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RichTextBox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FC4ACA-3DC2-4C49-3309-7287A50FD074}"/>
              </a:ext>
            </a:extLst>
          </p:cNvPr>
          <p:cNvSpPr txBox="1"/>
          <p:nvPr/>
        </p:nvSpPr>
        <p:spPr>
          <a:xfrm>
            <a:off x="432620" y="199190"/>
            <a:ext cx="2275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236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36896D-CE21-28AE-1FA3-FA750965E222}"/>
              </a:ext>
            </a:extLst>
          </p:cNvPr>
          <p:cNvSpPr txBox="1"/>
          <p:nvPr/>
        </p:nvSpPr>
        <p:spPr>
          <a:xfrm>
            <a:off x="3897561" y="294968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23B899F-51A2-EB11-7D0D-A8ED3E3BC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934957"/>
              </p:ext>
            </p:extLst>
          </p:nvPr>
        </p:nvGraphicFramePr>
        <p:xfrm>
          <a:off x="1170039" y="879744"/>
          <a:ext cx="8318089" cy="56130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1044">
                  <a:extLst>
                    <a:ext uri="{9D8B030D-6E8A-4147-A177-3AD203B41FA5}">
                      <a16:colId xmlns:a16="http://schemas.microsoft.com/office/drawing/2014/main" val="4167449168"/>
                    </a:ext>
                  </a:extLst>
                </a:gridCol>
                <a:gridCol w="5647045">
                  <a:extLst>
                    <a:ext uri="{9D8B030D-6E8A-4147-A177-3AD203B41FA5}">
                      <a16:colId xmlns:a16="http://schemas.microsoft.com/office/drawing/2014/main" val="940407626"/>
                    </a:ext>
                  </a:extLst>
                </a:gridCol>
              </a:tblGrid>
              <a:tr h="168781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теста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1624123963"/>
                  </a:ext>
                </a:extLst>
              </a:tr>
              <a:tr h="337562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тестируем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Инициализация игрового поля и стартовая расстановка фигур (метод NewGame).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3887491182"/>
                  </a:ext>
                </a:extLst>
              </a:tr>
              <a:tr h="506343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Зачем тестируется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Убедиться, что математическая модель доски (37 узлов) построена верно, координаты заданы без ошибок, а на поле создано ровно по 16 зеленых и красных фигур в строго определенных правилами позициях.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1608355653"/>
                  </a:ext>
                </a:extLst>
              </a:tr>
              <a:tr h="337562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Выходные данные 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  <a:tabLst>
                          <a:tab pos="246380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Массив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nodes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(37 узлов), матрица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adjacencyMatrix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динамический список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pieces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(32 объекта).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1503470005"/>
                  </a:ext>
                </a:extLst>
              </a:tr>
              <a:tr h="1371813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Настройка тестового окружения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marL="24130" indent="54038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 выполняется на компьютере со следующими характеристиками: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47053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процессор 11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Gen Intel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7-1165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@ 2.80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GHz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4 ядра и 8 потоков, базовая частота 2.80 ГГц;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ОЗУ 8 Гб;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HDD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Тб;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видеокарта </a:t>
                      </a:r>
                      <a:r>
                        <a:rPr lang="ru-BY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NVIDIA GeForce MX350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дисплей 1920*1080;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540385" algn="just">
                        <a:buNone/>
                        <a:tabLst>
                          <a:tab pos="246380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3824617170"/>
                  </a:ext>
                </a:extLst>
              </a:tr>
              <a:tr h="675124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Шаги теста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marL="19685" indent="540385" algn="just">
                        <a:buNone/>
                        <a:tabLst>
                          <a:tab pos="246380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Запустить игру (автоматически вызывается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NewGame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()). Проверить размер коллекции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pieces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через окно отладчика. Проверить текущее значение переменной ходов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currentPlayer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Визуально оценить состояние элементов интерфейса на форме.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2275151702"/>
                  </a:ext>
                </a:extLst>
              </a:tr>
              <a:tr h="506343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Ожидаемые выходные данные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 pieces содержит ровно 32 элемента. Переменная currentPlayer равна 2 (ход Зеленых). Текст компонентов lblWhite и lblBlack равен "Красные: 16" и "Зеленые: 16" соответственно.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1761036494"/>
                  </a:ext>
                </a:extLst>
              </a:tr>
              <a:tr h="609695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панели pnlBoard отрисованы все 32 фишки: зеленые занимают левую крепость и левую часть поля, красные – правую крепость и правую часть. Центральный узел (индекс 12) пуст. Строка lblTurn отображает: "Ход: Зеленые".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553927614"/>
                  </a:ext>
                </a:extLst>
              </a:tr>
              <a:tr h="168781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Фактический результат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Ошибки нет.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4096745269"/>
                  </a:ext>
                </a:extLst>
              </a:tr>
              <a:tr h="168781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Обнаруженный дефект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Дефекты не обнаружены. 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650041182"/>
                  </a:ext>
                </a:extLst>
              </a:tr>
              <a:tr h="304848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Возможная причина дефекта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2541165253"/>
                  </a:ext>
                </a:extLst>
              </a:tr>
              <a:tr h="168781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Предполагаемое решение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требуется.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304" marR="38304" marT="0" marB="0"/>
                </a:tc>
                <a:extLst>
                  <a:ext uri="{0D108BD9-81ED-4DB2-BD59-A6C34878D82A}">
                    <a16:rowId xmlns:a16="http://schemas.microsoft.com/office/drawing/2014/main" val="3902186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53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34A0E2-A342-ECB9-5B38-FF8A5ABCC5C1}"/>
              </a:ext>
            </a:extLst>
          </p:cNvPr>
          <p:cNvSpPr txBox="1"/>
          <p:nvPr/>
        </p:nvSpPr>
        <p:spPr>
          <a:xfrm>
            <a:off x="4149213" y="176980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DCF4268-21AB-426F-C0F3-AB36F5C7F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28"/>
              </p:ext>
            </p:extLst>
          </p:nvPr>
        </p:nvGraphicFramePr>
        <p:xfrm>
          <a:off x="1209367" y="963561"/>
          <a:ext cx="8259097" cy="5210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852">
                  <a:extLst>
                    <a:ext uri="{9D8B030D-6E8A-4147-A177-3AD203B41FA5}">
                      <a16:colId xmlns:a16="http://schemas.microsoft.com/office/drawing/2014/main" val="3391633529"/>
                    </a:ext>
                  </a:extLst>
                </a:gridCol>
                <a:gridCol w="5578245">
                  <a:extLst>
                    <a:ext uri="{9D8B030D-6E8A-4147-A177-3AD203B41FA5}">
                      <a16:colId xmlns:a16="http://schemas.microsoft.com/office/drawing/2014/main" val="30501966"/>
                    </a:ext>
                  </a:extLst>
                </a:gridCol>
              </a:tblGrid>
              <a:tr h="208630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тест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2273255090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тестируем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Блокировка хода при обязательном взятии.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686052224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Входные данные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Зеленая фишка без возможности взятия, флаг глобального взятия на поле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HasAnyCaptures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 ==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910098190"/>
                  </a:ext>
                </a:extLst>
              </a:tr>
              <a:tr h="1511720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Настройка тестового окружения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marL="24130" indent="54038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 выполняется на компьютере со следующими характеристиками: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47053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процессор 11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Gen Intel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7-1165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@ 2.80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GHz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4 ядра и 8 потоков, базовая частота 2.80 ГГц;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ОЗУ 8 Гб;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HDD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Тб;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видеокарта </a:t>
                      </a:r>
                      <a:r>
                        <a:rPr lang="ru-BY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NVIDIA GeForce MX350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дисплей 1920*1080;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2817393256"/>
                  </a:ext>
                </a:extLst>
              </a:tr>
              <a:tr h="474477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Шаги теста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Кликнуть по зеленой фишке, у которой нет возможности сделать взятие. Попытаться переместить её кликом на любой свободный соседний узел.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1695596971"/>
                  </a:ext>
                </a:extLst>
              </a:tr>
              <a:tr h="469599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Ожидаемые выходные данные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Появляется окно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MessageBox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текстом «Вы обязаны бить фигуру противника!». Фишка остается на месте, ход остается за текущим игроком.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1249357774"/>
                  </a:ext>
                </a:extLst>
              </a:tr>
              <a:tr h="469599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Появляется окно MessageBox с текстом «Вы обязаны бить фигуру противника!». Фишка остается на месте, ход остается за текущим игроком.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968520235"/>
                  </a:ext>
                </a:extLst>
              </a:tr>
              <a:tr h="313066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Фактический результат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Выдает ошибку.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3567935999"/>
                  </a:ext>
                </a:extLst>
              </a:tr>
              <a:tr h="313066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Обнаруженный дефект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Невозможен ход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2513114187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Возможная причина дефекта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Неверный ход, по правилам игры в приоритете удар по противнику.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927127164"/>
                  </a:ext>
                </a:extLst>
              </a:tr>
              <a:tr h="316319"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Предполагаемое решение</a:t>
                      </a:r>
                      <a:endParaRPr lang="ru-BY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tc>
                  <a:txBody>
                    <a:bodyPr/>
                    <a:lstStyle/>
                    <a:p>
                      <a:pPr indent="540385" algn="just"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Совершить прыжок через фишку противника.</a:t>
                      </a:r>
                      <a:endParaRPr lang="ru-BY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0" marR="45250" marT="0" marB="0"/>
                </a:tc>
                <a:extLst>
                  <a:ext uri="{0D108BD9-81ED-4DB2-BD59-A6C34878D82A}">
                    <a16:rowId xmlns:a16="http://schemas.microsoft.com/office/drawing/2014/main" val="361478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171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25204C1-1F43-4FF3-9370-1F4336AD2561}"/>
              </a:ext>
            </a:extLst>
          </p:cNvPr>
          <p:cNvSpPr/>
          <p:nvPr/>
        </p:nvSpPr>
        <p:spPr>
          <a:xfrm>
            <a:off x="3598604" y="2123768"/>
            <a:ext cx="3991897" cy="3726427"/>
          </a:xfrm>
          <a:custGeom>
            <a:avLst/>
            <a:gdLst/>
            <a:ahLst/>
            <a:cxnLst/>
            <a:rect l="l" t="t" r="r" b="b"/>
            <a:pathLst>
              <a:path w="6500982" h="6500982">
                <a:moveTo>
                  <a:pt x="0" y="0"/>
                </a:moveTo>
                <a:lnTo>
                  <a:pt x="6500982" y="0"/>
                </a:lnTo>
                <a:lnTo>
                  <a:pt x="6500982" y="6500982"/>
                </a:lnTo>
                <a:lnTo>
                  <a:pt x="0" y="650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8FCF1-F3AE-2A08-8AB7-DF56F6F710A2}"/>
              </a:ext>
            </a:extLst>
          </p:cNvPr>
          <p:cNvSpPr txBox="1"/>
          <p:nvPr/>
        </p:nvSpPr>
        <p:spPr>
          <a:xfrm>
            <a:off x="1703969" y="108154"/>
            <a:ext cx="77811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разработанного приложения</a:t>
            </a:r>
          </a:p>
          <a:p>
            <a:pPr algn="ctr"/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 Шестнадцать солдат»</a:t>
            </a:r>
            <a:endParaRPr lang="ru-BY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956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6A474-1F83-25F3-9314-4A6D7F8DAEC3}"/>
              </a:ext>
            </a:extLst>
          </p:cNvPr>
          <p:cNvSpPr txBox="1"/>
          <p:nvPr/>
        </p:nvSpPr>
        <p:spPr>
          <a:xfrm>
            <a:off x="2141216" y="88491"/>
            <a:ext cx="6389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 программы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FA18C-F760-BB68-77FE-3E461A81B311}"/>
              </a:ext>
            </a:extLst>
          </p:cNvPr>
          <p:cNvSpPr txBox="1"/>
          <p:nvPr/>
        </p:nvSpPr>
        <p:spPr>
          <a:xfrm>
            <a:off x="491613" y="1351508"/>
            <a:ext cx="9124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Программу можно использовать в трёх направлениях: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обучении – чтобы показывать обучающим, как работают игровые алгоритмы;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любителей настольных игр – как удобный способ играть на компьютере или телефоне;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разработчиков – как готовый пример реализации игровой логики и структур данных.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полезно для студентов, так как разработка требует решения сложных задач: хранение данных о нестандартном поле, алгоритмы проверки ходов, создание интерфейса. 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747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FBC251-395D-82A9-FD25-953DEB7CE926}"/>
              </a:ext>
            </a:extLst>
          </p:cNvPr>
          <p:cNvSpPr txBox="1"/>
          <p:nvPr/>
        </p:nvSpPr>
        <p:spPr>
          <a:xfrm>
            <a:off x="1237018" y="936857"/>
            <a:ext cx="85712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ru-BY" sz="20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 </a:t>
            </a:r>
            <a:r>
              <a:rPr lang="ru-BY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понятная структура программы, где графический интерфейс отделен от игровой логики. Поле реализовано в виде сети из 37 точек (графа) и матрицы смежности, благодаря чему программа всегда точно определяет положение фишек.</a:t>
            </a:r>
          </a:p>
          <a:p>
            <a:pPr marL="0" marR="0" indent="0" algn="l">
              <a:buNone/>
            </a:pPr>
            <a:r>
              <a:rPr lang="ru-BY" sz="20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Реализация: </a:t>
            </a:r>
            <a:r>
              <a:rPr lang="ru-BY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C# полностью написаны все правила игры. Программа автоматически контролирует ходы игроков, выполняет механику прыжков, удаляет захваченные фигуры и следит за соблюдением правила обязательного взятия (</a:t>
            </a:r>
            <a:r>
              <a:rPr lang="ru-BY" sz="2000" b="0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huff</a:t>
            </a:r>
            <a:r>
              <a:rPr lang="ru-BY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indent="0" algn="l">
              <a:buNone/>
            </a:pPr>
            <a:r>
              <a:rPr lang="ru-BY" sz="20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Качество: </a:t>
            </a:r>
            <a:r>
              <a:rPr lang="ru-BY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стабильность приложения подтверждена проверкой на различных игровых сценариях. Программа работает без сбоев, корректно обрабатывает любые действия пользователей и безошибочно определяет финал партии.</a:t>
            </a:r>
          </a:p>
          <a:p>
            <a:pPr marL="0" marR="0" indent="0" algn="l">
              <a:buNone/>
            </a:pPr>
            <a:r>
              <a:rPr lang="ru-BY" sz="20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 </a:t>
            </a:r>
            <a:r>
              <a:rPr lang="ru-BY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готовый симулятор для полноценной игры двух участников. Продукт способствует развитию стратегического мышления, а также может использоваться в учебном процессе как наглядный пример применения алгоритмов на графах.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46804-7ECF-36A0-BF1F-D63BFACD6D06}"/>
              </a:ext>
            </a:extLst>
          </p:cNvPr>
          <p:cNvSpPr txBox="1"/>
          <p:nvPr/>
        </p:nvSpPr>
        <p:spPr>
          <a:xfrm>
            <a:off x="3942735" y="196646"/>
            <a:ext cx="2786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 работы</a:t>
            </a:r>
            <a:endParaRPr lang="ru-BY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7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010A19-E021-7402-3CE0-832322F2D799}"/>
              </a:ext>
            </a:extLst>
          </p:cNvPr>
          <p:cNvSpPr txBox="1"/>
          <p:nvPr/>
        </p:nvSpPr>
        <p:spPr>
          <a:xfrm>
            <a:off x="3667432" y="2844225"/>
            <a:ext cx="42945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BY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3676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</TotalTime>
  <Words>1534</Words>
  <Application>Microsoft Office PowerPoint</Application>
  <PresentationFormat>Широкоэкранный</PresentationFormat>
  <Paragraphs>135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Symbol</vt:lpstr>
      <vt:lpstr>Times New Roman</vt:lpstr>
      <vt:lpstr>Trebuchet MS</vt:lpstr>
      <vt:lpstr>Wingdings 3</vt:lpstr>
      <vt:lpstr>Аспект</vt:lpstr>
      <vt:lpstr>Курсовой проект   Реализация программы, моделирующей игру  «Шестнадцать солдат»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Ксения Макулькина</dc:creator>
  <cp:lastModifiedBy>Ксения Макулькина</cp:lastModifiedBy>
  <cp:revision>7</cp:revision>
  <dcterms:created xsi:type="dcterms:W3CDTF">2026-07-04T22:25:02Z</dcterms:created>
  <dcterms:modified xsi:type="dcterms:W3CDTF">2026-07-06T07:10:17Z</dcterms:modified>
</cp:coreProperties>
</file>